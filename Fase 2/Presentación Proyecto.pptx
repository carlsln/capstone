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730a4ef-c484-2499-8474-3f77b37b77e6}">
          <p14:sldIdLst>
            <p14:sldId id="256"/>
          </p14:sldIdLst>
        </p14:section>
        <p14:section name="Contexto" id="{dad7cafb-88ea-5093-bd36-7018dd374356}">
          <p14:sldIdLst>
            <p14:sldId id="257"/>
            <p14:sldId id="258"/>
          </p14:sldIdLst>
        </p14:section>
        <p14:section name="Metodología" id="{c4638f5e-6175-832e-00f6-1c80a9871373}">
          <p14:sldIdLst>
            <p14:sldId id="259"/>
          </p14:sldIdLst>
        </p14:section>
        <p14:section name="Solución" id="{f363596d-1aa0-ac42-9426-4f109e54bf6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Resultados" id="{b86d3e32-d56d-c026-8d79-835f486f6e78}">
          <p14:sldIdLst>
            <p14:sldId id="266"/>
            <p14:sldId id="267"/>
            <p14:sldId id="268"/>
          </p14:sldIdLst>
        </p14:section>
        <p14:section name="Cierre" id="{6caed912-4caa-f26a-4bff-94ad684a2659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Carlos. Saludo, presentación del equipo, del cliente y del Product Owner. Mensaje: en la Fase 2 corregimos el diagnóstico y el portal ya funciona conectado a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Carlos. Easy Office tiene más de 15 años formalizando empresas. Su web informa pero no permite contratar. Recorrer los cuatro problemas y presentar la solución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Carlos. Obtuvimos 52/100 en la Fase 1. Diagnóstico corregido con el cliente. ClaveÚnica: desde noviembre de 2025 una empresa privada puede usarla, pero con convenio y costos que no caben en el semestre. Webpay en producción requiere contrato comercial; usamos comprobante y sandbox. Firebase por plazo, costo y tamaño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Carlos. Sprints de dos semanas desde el 20 de septiembre; terminamos el 1 y el 2 y estamos en el 3. Cada sprint termina con un incremento revisado. Desde el Sprint 3 usamos ramas y pull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Carlos. Recorrer de izquierda a derecha: cliente y ejecutivo entran por su aplicación; ambas usan la misma base en Firebase, así el ejecutivo ve la solicitud apenas se envía. WhatsApp se mantiene con el número de solicitud. ClaveÚnica y pago en línea quedan fuera del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Carlos. Mostrar el portal, construido desde los mockups de Figma. Buscador con búsquedas frecuentes (CP-02 aprobado), cuatro líneas de negocio y diseño adaptable al teléfono (CP-09 aprobado). Si hay conexión, mostrarlo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Carlos. Estas tarjetas se cargan desde la base de datos, no están escritas en el código. El cliente ve requisitos, plazo y costo antes de iniciar el trámite.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Carlos. Colección tramites en Firestore: título, categoría, costo, plazo, requisitos, tipo y es_frecuente, que decide qué aparece en trámites frecuentes. Modelo flexible porque cada trámite tiene requisitos distintos (RNF-04.2).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Carlos. tramites está implementada; las otras cuatro se implementan en los sprints 3 y 4. El historial de solicitudes cumple el log de auditoría que pide el SRS (RNF-01.3).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Carlos. Login con Firebase Authentication y recuperación de clave por correo. Las reglas impiden leer solicitudes sin sesión (CP-06 aprobado). Todo por HTTPS. Relación con la Ley 21.719, vigente desde el 1 de diciembre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Nicolás. Método: ISO/IEC/IEEE 29119 y OWASP Top 10. Aprobados: catálogo, buscador, reglas de seguridad y teléfono. Pendientes: inicio de sesión (CP-03 a CP-05) y CRM (CP-08). CP-07: un título con HTML se ejecutaba; se corrige usando textContent en vez de innerHTML.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Nicolás. TRL 1: solo el problema. TRL 2: SRS. TRL 3: mockups. Hoy TRL 4: código funcionando en laboratorio. TRL 5: pagos en sandbox. Meta TRL 6: un cliente simulado pide, paga y la solicitud llega al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Nicolás. Presentar al equipo: Juan Carlos, arquitectura y documentación (interés: arquitectura de software); Carlos, líder y Scrum Master (interés: datos e IA aplicada); Nicolás, desarrollo y base de datos (interés: ciberseguridad y automatización). El portal y la base de datos se desarrollaron en conjunto y cada aporte queda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Nicolás. Quedan dos sprints y medio: solicitud con validación de RUT y carga de documentos, CRM con los estados del SRS, pagos en sandbox para TRL 5 y demostración completa para TRL 6. Dar paso a la diapositiva final de agradecimiento.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Nicolás, que cierra la presentación. Agradecer a la comisión, al docente y a Easy Office, y abrir el espacio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10515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Easy Office · Equipo 11 · Capstone APT122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Easy Office · Equipo 11 · Capstone APT122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Easy Office · Equipo 11 · Capstone APT122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CAPSTONE APT122 · FASE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Portal Web de Trámites y CRM Interno para Easy Office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Juan Carlos Castillo · Carlos Lienan · Nicolás Barraza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Docente: Rodrigo Álvarez · Product Owner: Natanael Escobar · Duoc UC San Bernardo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241280" y="-2011680"/>
            <a:ext cx="3657600" cy="36576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937760"/>
            <a:ext cx="2377440" cy="2377440"/>
          </a:xfrm>
          <a:prstGeom prst="ellipse">
            <a:avLst/>
          </a:prstGeom>
          <a:solidFill>
            <a:schemeClr val="accent1">
              <a:alpha val="10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CLIENTE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Hoy Easy Office gestiona todo a mano</a:t>
            </a:r>
            <a:endParaRPr lang="en-US" sz="3400" dirty="0"/>
          </a:p>
        </p:txBody>
      </p:sp>
      <p:sp>
        <p:nvSpPr>
          <p:cNvPr id="4" name="problema-0"/>
          <p:cNvSpPr/>
          <p:nvPr/>
        </p:nvSpPr>
        <p:spPr>
          <a:xfrm>
            <a:off x="548640" y="1737360"/>
            <a:ext cx="2606040" cy="2514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1872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WhatsApp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Así llegan los clientes</a:t>
            </a:r>
            <a:endParaRPr lang="en-US" sz="1600" dirty="0"/>
          </a:p>
        </p:txBody>
      </p:sp>
      <p:sp>
        <p:nvSpPr>
          <p:cNvPr id="9" name="problema-1"/>
          <p:cNvSpPr/>
          <p:nvPr/>
        </p:nvSpPr>
        <p:spPr>
          <a:xfrm>
            <a:off x="3383280" y="1737360"/>
            <a:ext cx="2606040" cy="2514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20116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165" y="21872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Excel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Datos sin permisos ni auditoría</a:t>
            </a:r>
            <a:endParaRPr lang="en-US" sz="1600" dirty="0"/>
          </a:p>
        </p:txBody>
      </p:sp>
      <p:sp>
        <p:nvSpPr>
          <p:cNvPr id="14" name="problema-2"/>
          <p:cNvSpPr/>
          <p:nvPr/>
        </p:nvSpPr>
        <p:spPr>
          <a:xfrm>
            <a:off x="6217920" y="1737360"/>
            <a:ext cx="2606040" cy="2514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5" y="218724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Transferencias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Pagos revisados a mano</a:t>
            </a:r>
            <a:endParaRPr lang="en-US" sz="1600" dirty="0"/>
          </a:p>
        </p:txBody>
      </p:sp>
      <p:sp>
        <p:nvSpPr>
          <p:cNvPr id="19" name="problema-3"/>
          <p:cNvSpPr/>
          <p:nvPr/>
        </p:nvSpPr>
        <p:spPr>
          <a:xfrm>
            <a:off x="9052560" y="1737360"/>
            <a:ext cx="2606040" cy="2514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0" y="20116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445" y="218724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Sin seguimiento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0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El cliente no ve su trámite</a:t>
            </a:r>
            <a:endParaRPr lang="en-US" sz="1600" dirty="0"/>
          </a:p>
        </p:txBody>
      </p:sp>
      <p:sp>
        <p:nvSpPr>
          <p:cNvPr id="24" name="solucion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91440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NUESTRA SOLUCIÓN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" y="519379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Un portal web para el cliente y un CRM para los ejecutivos, conectados a una sola base de datos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RETROALIMENTACIÓN FASE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Lo que corregimos desde la Fase 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A3B8"/>
                </a:solidFill>
              </a:rPr>
              <a:t>ANTES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AHORA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Diagnóstico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17520" y="2103120"/>
            <a:ext cx="3566160" cy="822960"/>
          </a:xfrm>
          <a:prstGeom prst="roundRect">
            <a:avLst>
              <a:gd name="adj" fmla="val 15556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46120" y="2103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Atención presencial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2350008"/>
            <a:ext cx="329184" cy="3291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23760" y="2103120"/>
            <a:ext cx="43891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52360" y="21031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WhatsApp, Excel y transferencias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1272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Identidad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017520" y="3127248"/>
            <a:ext cx="3566160" cy="822960"/>
          </a:xfrm>
          <a:prstGeom prst="roundRect">
            <a:avLst>
              <a:gd name="adj" fmla="val 15556"/>
            </a:avLst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246120" y="31272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ClaveÚnica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3374136"/>
            <a:ext cx="329184" cy="32918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223760" y="3127248"/>
            <a:ext cx="43891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52360" y="31272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Firebase Authentication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15137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Pagos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3017520" y="4151376"/>
            <a:ext cx="3566160" cy="822960"/>
          </a:xfrm>
          <a:prstGeom prst="roundRect">
            <a:avLst>
              <a:gd name="adj" fmla="val 15556"/>
            </a:avLst>
          </a:prstGeom>
          <a:solidFill>
            <a:schemeClr val="accent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246120" y="415137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Webpay en producción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4398264"/>
            <a:ext cx="329184" cy="32918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223760" y="4151376"/>
            <a:ext cx="43891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452360" y="415137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Comprobante y pruebas en sandbox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51755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Arquitectura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3017520" y="5175504"/>
            <a:ext cx="3566160" cy="822960"/>
          </a:xfrm>
          <a:prstGeom prst="roundRect">
            <a:avLst>
              <a:gd name="adj" fmla="val 15556"/>
            </a:avLst>
          </a:prstGeom>
          <a:solidFill>
            <a:schemeClr val="accent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3246120" y="517550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Servidor propio</a:t>
            </a:r>
            <a:endParaRPr lang="en-US" sz="1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5422392"/>
            <a:ext cx="329184" cy="32918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223760" y="5175504"/>
            <a:ext cx="43891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452360" y="51755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Firebase en la nube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METODOLOGÍA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Scrum: cinco sprints de dos semanas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80160" y="2423160"/>
            <a:ext cx="960120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Sprint 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20 sep – 3 oct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28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Mockups y Fase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68980" y="201168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689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5831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Sprint 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831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4 – 17 oct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831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Portal y base de datos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0" y="2011680"/>
            <a:ext cx="822960" cy="822960"/>
          </a:xfrm>
          <a:prstGeom prst="ellipse">
            <a:avLst/>
          </a:prstGeom>
          <a:solidFill>
            <a:schemeClr val="accent5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Sprint 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18 – 31 oct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Solicitud y evidencias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69580" y="2011680"/>
            <a:ext cx="822960" cy="822960"/>
          </a:xfrm>
          <a:prstGeom prst="ellipse">
            <a:avLst/>
          </a:prstGeom>
          <a:solidFill>
            <a:srgbClr val="CBD5E1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695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3837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Sprint 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837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 – 14 nov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837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CRM y pagos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469880" y="2011680"/>
            <a:ext cx="822960" cy="822960"/>
          </a:xfrm>
          <a:prstGeom prst="ellipse">
            <a:avLst/>
          </a:prstGeom>
          <a:solidFill>
            <a:srgbClr val="CBD5E1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698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Sprint 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15 – 28 nov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Pruebas y MVP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260604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Product Owner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Natanael Escobar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3383280" y="4754880"/>
            <a:ext cx="260604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611880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Scrum Master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61188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Carlos Lienan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217920" y="4754880"/>
            <a:ext cx="260604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46520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Daily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 a V, 09:00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052560" y="4754880"/>
            <a:ext cx="260604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281160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Herramientas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28116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GitHub · Figma · Firebase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ARQUITECTURA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Portal y CRM comparten una sola base de datos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505456" y="1499616"/>
            <a:ext cx="7196328" cy="4802491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554480"/>
            <a:ext cx="7086600" cy="46927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EVIDENCIA · APLICACIÓN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El portal ya está funcionando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8705088" cy="4366896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8595360" cy="425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5548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199339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554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Buscador de trámites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9555480" y="3200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336499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5548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líneas de negocio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9555480" y="4572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4736592"/>
            <a:ext cx="356616" cy="3566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55548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Funciona en teléfono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EVIDENCIA · APLICACIÓN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Cada trámite muestra requisitos, plazo y costo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22376" y="1591056"/>
            <a:ext cx="10716768" cy="4175760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atalogo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10607040" cy="406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EVIDENCIA · BASE DE DATOS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Los trámites viven en Cloud Firestore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591056"/>
            <a:ext cx="11173968" cy="2642763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firestore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64240" cy="25330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10769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Agregar un trámite nuevo = crear un documento. Sin cambiar el código.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MODELO DE DATOS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Cinco colecciones, diseñadas para crecer</a:t>
            </a:r>
            <a:endParaRPr lang="en-US" sz="3400" dirty="0"/>
          </a:p>
        </p:txBody>
      </p:sp>
      <p:sp>
        <p:nvSpPr>
          <p:cNvPr id="4" name="coleccion-tramites"/>
          <p:cNvSpPr/>
          <p:nvPr/>
        </p:nvSpPr>
        <p:spPr>
          <a:xfrm>
            <a:off x="548640" y="1783080"/>
            <a:ext cx="2066544" cy="3108960"/>
          </a:xfrm>
          <a:prstGeom prst="roundRect">
            <a:avLst>
              <a:gd name="adj" fmla="val 619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2329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tramites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Catálogo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29768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00A86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2976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Implementada</a:t>
            </a:r>
            <a:endParaRPr lang="en-US" sz="1400" dirty="0"/>
          </a:p>
        </p:txBody>
      </p:sp>
      <p:sp>
        <p:nvSpPr>
          <p:cNvPr id="11" name="coleccion-usuarios"/>
          <p:cNvSpPr/>
          <p:nvPr/>
        </p:nvSpPr>
        <p:spPr>
          <a:xfrm>
            <a:off x="2798064" y="1783080"/>
            <a:ext cx="2066544" cy="3108960"/>
          </a:xfrm>
          <a:prstGeom prst="roundRect">
            <a:avLst>
              <a:gd name="adj" fmla="val 61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72384" y="20574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949" y="22329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72384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072384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Clientes y ejecutivos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072384" y="429768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072384" y="42976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Diseñada</a:t>
            </a:r>
            <a:endParaRPr lang="en-US" sz="1400" dirty="0"/>
          </a:p>
        </p:txBody>
      </p:sp>
      <p:sp>
        <p:nvSpPr>
          <p:cNvPr id="18" name="coleccion-solicitudes"/>
          <p:cNvSpPr/>
          <p:nvPr/>
        </p:nvSpPr>
        <p:spPr>
          <a:xfrm>
            <a:off x="5047488" y="1783080"/>
            <a:ext cx="2066544" cy="3108960"/>
          </a:xfrm>
          <a:prstGeom prst="roundRect">
            <a:avLst>
              <a:gd name="adj" fmla="val 61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21808" y="20574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373" y="2232965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21808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solicitudes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321808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Une cliente, trámite y ejecutivo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321808" y="429768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321808" y="42976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Diseñada</a:t>
            </a:r>
            <a:endParaRPr lang="en-US" sz="1400" dirty="0"/>
          </a:p>
        </p:txBody>
      </p:sp>
      <p:sp>
        <p:nvSpPr>
          <p:cNvPr id="25" name="coleccion-pagos"/>
          <p:cNvSpPr/>
          <p:nvPr/>
        </p:nvSpPr>
        <p:spPr>
          <a:xfrm>
            <a:off x="7296912" y="1783080"/>
            <a:ext cx="2066544" cy="3108960"/>
          </a:xfrm>
          <a:prstGeom prst="roundRect">
            <a:avLst>
              <a:gd name="adj" fmla="val 61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571232" y="20574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2232965"/>
            <a:ext cx="380390" cy="38039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71232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pagos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571232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Abono 50 % o pago total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7571232" y="429768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571232" y="42976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Diseñada</a:t>
            </a:r>
            <a:endParaRPr lang="en-US" sz="1400" dirty="0"/>
          </a:p>
        </p:txBody>
      </p:sp>
      <p:sp>
        <p:nvSpPr>
          <p:cNvPr id="32" name="coleccion-documentos"/>
          <p:cNvSpPr/>
          <p:nvPr/>
        </p:nvSpPr>
        <p:spPr>
          <a:xfrm>
            <a:off x="9546336" y="1783080"/>
            <a:ext cx="2066544" cy="3108960"/>
          </a:xfrm>
          <a:prstGeom prst="roundRect">
            <a:avLst>
              <a:gd name="adj" fmla="val 61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820656" y="20574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221" y="2232965"/>
            <a:ext cx="380390" cy="38039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820656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9820656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Archivos del cliente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9820656" y="429768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9820656" y="42976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Diseñada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solicitudes guarda el historial de cada cambio de estado: quién, qué y cuándo.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EVIDENCIA · SEGURIDAD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Inicio de sesión y datos protegidos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591056"/>
            <a:ext cx="7790688" cy="3896655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login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37869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90195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09760" y="1737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Firebase Authentication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686800" y="3063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322783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09760" y="3063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Reglas de seguridad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0" y="4389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2" y="4553712"/>
            <a:ext cx="356616" cy="3566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50976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Conexión HTTPS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PRUEBAS DE VALIDACIÓN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Nueve casos de prueba ligados a los requisitos</a:t>
            </a:r>
            <a:endParaRPr lang="en-US" sz="3400" dirty="0"/>
          </a:p>
        </p:txBody>
      </p:sp>
      <p:sp>
        <p:nvSpPr>
          <p:cNvPr id="4" name="stat-0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9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diseñados</a:t>
            </a:r>
            <a:endParaRPr lang="en-US" sz="1800" dirty="0"/>
          </a:p>
        </p:txBody>
      </p:sp>
      <p:sp>
        <p:nvSpPr>
          <p:cNvPr id="7" name="stat-1"/>
          <p:cNvSpPr/>
          <p:nvPr/>
        </p:nvSpPr>
        <p:spPr>
          <a:xfrm>
            <a:off x="3383280" y="1737360"/>
            <a:ext cx="2606040" cy="2377440"/>
          </a:xfrm>
          <a:prstGeom prst="roundRect">
            <a:avLst>
              <a:gd name="adj" fmla="val 5385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8745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4</a:t>
            </a:r>
            <a:endParaRPr lang="en-US" sz="8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aprobados</a:t>
            </a:r>
            <a:endParaRPr lang="en-US" sz="1800" dirty="0"/>
          </a:p>
        </p:txBody>
      </p:sp>
      <p:sp>
        <p:nvSpPr>
          <p:cNvPr id="10" name="stat-2"/>
          <p:cNvSpPr/>
          <p:nvPr/>
        </p:nvSpPr>
        <p:spPr>
          <a:xfrm>
            <a:off x="6217920" y="1737360"/>
            <a:ext cx="2606040" cy="2377440"/>
          </a:xfrm>
          <a:prstGeom prst="roundRect">
            <a:avLst>
              <a:gd name="adj" fmla="val 538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8745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</a:t>
            </a:r>
            <a:endParaRPr lang="en-US" sz="8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fallido y corregido</a:t>
            </a:r>
            <a:endParaRPr lang="en-US" sz="1800" dirty="0"/>
          </a:p>
        </p:txBody>
      </p:sp>
      <p:sp>
        <p:nvSpPr>
          <p:cNvPr id="13" name="stat-3"/>
          <p:cNvSpPr/>
          <p:nvPr/>
        </p:nvSpPr>
        <p:spPr>
          <a:xfrm>
            <a:off x="9052560" y="1737360"/>
            <a:ext cx="260604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18745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4</a:t>
            </a:r>
            <a:endParaRPr lang="en-US" sz="8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pendientes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1508760"/>
          </a:xfrm>
          <a:prstGeom prst="roundRect">
            <a:avLst>
              <a:gd name="adj" fmla="val 8485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DE LA PRUEBA A LA MEJORA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El CP-07 detectó una vulnerabilidad de inyección de código (XSS) y ya tiene corrección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MADUREZ TECNOLÓGICA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 TRL 1 a TRL 4: el código ya funciona</a:t>
            </a:r>
            <a:endParaRPr lang="en-US" sz="3400" dirty="0"/>
          </a:p>
        </p:txBody>
      </p:sp>
      <p:sp>
        <p:nvSpPr>
          <p:cNvPr id="4" name="trl-1"/>
          <p:cNvSpPr/>
          <p:nvPr/>
        </p:nvSpPr>
        <p:spPr>
          <a:xfrm>
            <a:off x="548640" y="4251960"/>
            <a:ext cx="169164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416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TRL 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Problema</a:t>
            </a:r>
            <a:endParaRPr lang="en-US" sz="1600" dirty="0"/>
          </a:p>
        </p:txBody>
      </p:sp>
      <p:sp>
        <p:nvSpPr>
          <p:cNvPr id="7" name="trl-2"/>
          <p:cNvSpPr/>
          <p:nvPr/>
        </p:nvSpPr>
        <p:spPr>
          <a:xfrm>
            <a:off x="2423160" y="3703320"/>
            <a:ext cx="16916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23160" y="3867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TRL 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SRS</a:t>
            </a:r>
            <a:endParaRPr lang="en-US" sz="1600" dirty="0"/>
          </a:p>
        </p:txBody>
      </p:sp>
      <p:sp>
        <p:nvSpPr>
          <p:cNvPr id="10" name="trl-3"/>
          <p:cNvSpPr/>
          <p:nvPr/>
        </p:nvSpPr>
        <p:spPr>
          <a:xfrm>
            <a:off x="4297680" y="3154680"/>
            <a:ext cx="1691640" cy="210312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3319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TRL 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Mockups</a:t>
            </a:r>
            <a:endParaRPr lang="en-US" sz="1600" dirty="0"/>
          </a:p>
        </p:txBody>
      </p:sp>
      <p:sp>
        <p:nvSpPr>
          <p:cNvPr id="13" name="trl-4"/>
          <p:cNvSpPr/>
          <p:nvPr/>
        </p:nvSpPr>
        <p:spPr>
          <a:xfrm>
            <a:off x="6172200" y="260604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TRL 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Código base</a:t>
            </a:r>
            <a:endParaRPr lang="en-US" sz="1600" dirty="0"/>
          </a:p>
        </p:txBody>
      </p:sp>
      <p:sp>
        <p:nvSpPr>
          <p:cNvPr id="16" name="trl-5"/>
          <p:cNvSpPr/>
          <p:nvPr/>
        </p:nvSpPr>
        <p:spPr>
          <a:xfrm>
            <a:off x="8046720" y="2057400"/>
            <a:ext cx="1691640" cy="3200400"/>
          </a:xfrm>
          <a:prstGeom prst="roundRect">
            <a:avLst>
              <a:gd name="adj" fmla="val 6486"/>
            </a:avLst>
          </a:prstGeom>
          <a:solidFill>
            <a:srgbClr val="CBD5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2221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TRL 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Pagos sandbox</a:t>
            </a:r>
            <a:endParaRPr lang="en-US" sz="1600" dirty="0"/>
          </a:p>
        </p:txBody>
      </p:sp>
      <p:sp>
        <p:nvSpPr>
          <p:cNvPr id="19" name="trl-6"/>
          <p:cNvSpPr/>
          <p:nvPr/>
        </p:nvSpPr>
        <p:spPr>
          <a:xfrm>
            <a:off x="9921240" y="1508760"/>
            <a:ext cx="1691640" cy="3749040"/>
          </a:xfrm>
          <a:prstGeom prst="roundRect">
            <a:avLst>
              <a:gd name="adj" fmla="val 6486"/>
            </a:avLst>
          </a:prstGeom>
          <a:solidFill>
            <a:srgbClr val="CBD5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21240" y="1673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TRL 6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921240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MVP completo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A86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Logrado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5740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05740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 curso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169164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66160" y="1691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Meta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EQUIPO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Tres integrantes, un mismo producto</a:t>
            </a:r>
            <a:endParaRPr lang="en-US" sz="3400" dirty="0"/>
          </a:p>
        </p:txBody>
      </p:sp>
      <p:sp>
        <p:nvSpPr>
          <p:cNvPr id="4" name="integrante-0"/>
          <p:cNvSpPr/>
          <p:nvPr/>
        </p:nvSpPr>
        <p:spPr>
          <a:xfrm>
            <a:off x="548640" y="1691640"/>
            <a:ext cx="3520440" cy="32004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920240"/>
            <a:ext cx="960120" cy="9601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229" y="21506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063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Juan Carlos Castillo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93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Arquitectura y documentación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Interés: Arquitectura de software</a:t>
            </a:r>
            <a:endParaRPr lang="en-US" sz="1500" dirty="0"/>
          </a:p>
        </p:txBody>
      </p:sp>
      <p:sp>
        <p:nvSpPr>
          <p:cNvPr id="10" name="integrante-1"/>
          <p:cNvSpPr/>
          <p:nvPr/>
        </p:nvSpPr>
        <p:spPr>
          <a:xfrm>
            <a:off x="4297680" y="1691640"/>
            <a:ext cx="3520440" cy="32004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5577840" y="1920240"/>
            <a:ext cx="960120" cy="9601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269" y="215066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3063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Carlos Lienan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3493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Líder de proyecto y Scrum Master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48056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Interés: Datos e IA aplicada</a:t>
            </a:r>
            <a:endParaRPr lang="en-US" sz="1500" dirty="0"/>
          </a:p>
        </p:txBody>
      </p:sp>
      <p:sp>
        <p:nvSpPr>
          <p:cNvPr id="16" name="integrante-2"/>
          <p:cNvSpPr/>
          <p:nvPr/>
        </p:nvSpPr>
        <p:spPr>
          <a:xfrm>
            <a:off x="8046720" y="1691640"/>
            <a:ext cx="3520440" cy="32004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9326880" y="1920240"/>
            <a:ext cx="960120" cy="9601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309" y="2150669"/>
            <a:ext cx="499262" cy="4992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29600" y="3063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Nicolás Barraza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0" y="3493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Desarrollo y base de datos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Interés: Ciberseguridad y automatización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El portal y la base de datos se desarrollaron en conjunto. Cada aporte queda registrado en GitHub.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PRÓXIMOS PASOS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Hacia el MVP en TRL 6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2514600" cy="1463040"/>
          </a:xfrm>
          <a:prstGeom prst="roundRect">
            <a:avLst>
              <a:gd name="adj" fmla="val 8750"/>
            </a:avLst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3429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Solicitud en 5 pasos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3246120"/>
            <a:ext cx="2514600" cy="1463040"/>
          </a:xfrm>
          <a:prstGeom prst="roundRect">
            <a:avLst>
              <a:gd name="adj" fmla="val 8750"/>
            </a:avLst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3703320" y="3429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CRM con estados y roles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3246120"/>
            <a:ext cx="2514600" cy="1463040"/>
          </a:xfrm>
          <a:prstGeom prst="roundRect">
            <a:avLst>
              <a:gd name="adj" fmla="val 8750"/>
            </a:avLst>
          </a:prstGeom>
          <a:solidFill>
            <a:schemeClr val="accent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3429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Pagos en sandbox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61120" y="3246120"/>
            <a:ext cx="2514600" cy="1463040"/>
          </a:xfrm>
          <a:prstGeom prst="roundRect">
            <a:avLst>
              <a:gd name="adj" fmla="val 8750"/>
            </a:avLst>
          </a:prstGeom>
          <a:solidFill>
            <a:schemeClr val="accent2"/>
          </a:solidFill>
          <a:ln/>
        </p:spPr>
      </p:sp>
      <p:sp>
        <p:nvSpPr>
          <p:cNvPr id="17" name="Shape 15"/>
          <p:cNvSpPr/>
          <p:nvPr/>
        </p:nvSpPr>
        <p:spPr>
          <a:xfrm>
            <a:off x="9189720" y="3429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97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Demo a Easy Office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2" name="Text 0"/>
          <p:cNvSpPr/>
          <p:nvPr>
            <p:ph idx="102" type="body" hasCustomPrompt="1"/>
          </p:nvPr>
        </p:nvSpPr>
        <p:spPr>
          <a:xfrm>
            <a:off x="731520" y="4023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4023360" cy="4023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¡Muchas gracias!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¿Preguntas?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634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Juan Carlos Castillo · Carlos Lienan · Nicolás Barraza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Easy Office · Capstone APT122 · Duoc UC San Bernardo</a:t>
            </a:r>
            <a:endParaRPr lang="en-US" sz="1400" dirty="0"/>
          </a:p>
        </p:txBody>
      </p:sp>
      <p:sp>
        <p:nvSpPr>
          <p:cNvPr id="9" name="Text 0"/>
          <p:cNvSpPr/>
          <p:nvPr>
            <p:ph idx="100" type="body" hasCustomPrompt="1"/>
          </p:nvPr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731520" y="19659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11" name="Text 0"/>
          <p:cNvSpPr/>
          <p:nvPr>
            <p:ph idx="102" type="body" hasCustomPrompt="1"/>
          </p:nvPr>
        </p:nvSpPr>
        <p:spPr>
          <a:xfrm>
            <a:off x="731520" y="4023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sy Office">
  <a:themeElements>
    <a:clrScheme name="Easy Office">
      <a:dk1>
        <a:srgbClr val="0F172A"/>
      </a:dk1>
      <a:lt1>
        <a:srgbClr val="FFFFFF"/>
      </a:lt1>
      <a:dk2>
        <a:srgbClr val="334155"/>
      </a:dk2>
      <a:lt2>
        <a:srgbClr val="EEF2F6"/>
      </a:lt2>
      <a:accent1>
        <a:srgbClr val="00A862"/>
      </a:accent1>
      <a:accent2>
        <a:srgbClr val="1E293B"/>
      </a:accent2>
      <a:accent3>
        <a:srgbClr val="64748B"/>
      </a:accent3>
      <a:accent4>
        <a:srgbClr val="E6F9F1"/>
      </a:accent4>
      <a:accent5>
        <a:srgbClr val="D97706"/>
      </a:accent5>
      <a:accent6>
        <a:srgbClr val="DC2626"/>
      </a:accent6>
      <a:hlink>
        <a:srgbClr val="0066FF"/>
      </a:hlink>
      <a:folHlink>
        <a:srgbClr val="64748B"/>
      </a:folHlink>
    </a:clrScheme>
    <a:fontScheme name="Easy 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· Easy Office · Fase 2</dc:title>
  <dc:subject>PptxGenJS Presentation</dc:subject>
  <dc:creator>Equipo 11 · Capstone APT122</dc:creator>
  <cp:lastModifiedBy>Equipo 11 · Capstone APT122</cp:lastModifiedBy>
  <cp:revision>1</cp:revision>
  <dcterms:created xsi:type="dcterms:W3CDTF">2026-10-23T04:51:18Z</dcterms:created>
  <dcterms:modified xsi:type="dcterms:W3CDTF">2026-10-23T04:51:18Z</dcterms:modified>
</cp:coreProperties>
</file>